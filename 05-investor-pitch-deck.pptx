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  <a:latin typeface="Calibri"/>
              </a:defRPr>
            </a:pPr>
            <a:r>
              <a:t>INSTYLE CLEANING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2834640"/>
            <a:ext cx="3931920" cy="381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31089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C9A84C"/>
                </a:solidFill>
                <a:latin typeface="Calibri"/>
              </a:defRPr>
            </a:pPr>
            <a:r>
              <a:t>Investor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1148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CCCCC"/>
                </a:solidFill>
                <a:latin typeface="Calibri"/>
              </a:defRPr>
            </a:pPr>
            <a:r>
              <a:t>Premium Cleaning. Peace of Mind.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303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9999"/>
                </a:solidFill>
                <a:latin typeface="Calibri"/>
              </a:defRPr>
            </a:pPr>
            <a:r>
              <a:t>Gainesville, FL  •  Orlando  •  Tampa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6692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Calibri"/>
              </a:defRPr>
            </a:pPr>
            <a:r>
              <a:t>Founded 2020  •  Black-Owned  •  Community-Rooted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828800" cy="381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4BB72"/>
                </a:solidFill>
                <a:latin typeface="Calibri"/>
              </a:defRPr>
            </a:pPr>
            <a:r>
              <a:t>Why the Gainesville cleaning market is broken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2 / 8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2560320" cy="3840480"/>
          </a:xfrm>
          <a:prstGeom prst="rect">
            <a:avLst/>
          </a:prstGeom>
          <a:solidFill>
            <a:srgbClr val="243B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C9A84C"/>
                </a:solidFill>
                <a:latin typeface="Calibri"/>
              </a:defRPr>
            </a:pPr>
            <a:r>
              <a:t>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92608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Calibri"/>
              </a:defRPr>
            </a:pPr>
            <a:r>
              <a:t>Budget Franchise</a:t>
            </a:r>
            <a:br/>
            <a:r>
              <a:t>Domination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1463040" y="3749040"/>
            <a:ext cx="1097280" cy="254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931920"/>
            <a:ext cx="2103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National chains like Molly Maid and</a:t>
            </a:r>
          </a:p>
          <a:p>
            <a:pPr algn="ctr">
              <a:spcAft>
                <a:spcPts val="6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Merry Maids dominate — competing</a:t>
            </a:r>
          </a:p>
          <a:p>
            <a:pPr algn="ctr">
              <a:spcAft>
                <a:spcPts val="6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solely on price, not quality.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20440" y="2011680"/>
            <a:ext cx="2560320" cy="3840480"/>
          </a:xfrm>
          <a:prstGeom prst="rect">
            <a:avLst/>
          </a:prstGeom>
          <a:solidFill>
            <a:srgbClr val="243B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22860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C9A84C"/>
                </a:solidFill>
                <a:latin typeface="Calibri"/>
              </a:defRPr>
            </a:pPr>
            <a:r>
              <a:t>⚠️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40" y="292608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Calibri"/>
              </a:defRPr>
            </a:pPr>
            <a:r>
              <a:t>Inconsistent</a:t>
            </a:r>
            <a:br/>
            <a:r>
              <a:t>Service Quality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1960" y="3749040"/>
            <a:ext cx="1097280" cy="254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49040" y="3931920"/>
            <a:ext cx="2103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High turnover, untrained staff,</a:t>
            </a:r>
          </a:p>
          <a:p>
            <a:pPr algn="ctr">
              <a:spcAft>
                <a:spcPts val="6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and unreliable scheduling leave</a:t>
            </a:r>
          </a:p>
          <a:p>
            <a:pPr algn="ctr">
              <a:spcAft>
                <a:spcPts val="6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customers frustrated.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2011680"/>
            <a:ext cx="2560320" cy="3840480"/>
          </a:xfrm>
          <a:prstGeom prst="rect">
            <a:avLst/>
          </a:prstGeom>
          <a:solidFill>
            <a:srgbClr val="243B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22860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C9A84C"/>
                </a:solidFill>
                <a:latin typeface="Calibri"/>
              </a:defRPr>
            </a:pPr>
            <a:r>
              <a:t>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292608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Calibri"/>
              </a:defRPr>
            </a:pPr>
            <a:r>
              <a:t>Underserved</a:t>
            </a:r>
            <a:br/>
            <a:r>
              <a:t>Renter Market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40880" y="3749040"/>
            <a:ext cx="1097280" cy="254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3931920"/>
            <a:ext cx="2103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67% of Gainesville residents are</a:t>
            </a:r>
          </a:p>
          <a:p>
            <a:pPr algn="ctr">
              <a:spcAft>
                <a:spcPts val="6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renters. Move-in/out cleaning is</a:t>
            </a:r>
          </a:p>
          <a:p>
            <a:pPr algn="ctr">
              <a:spcAft>
                <a:spcPts val="6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critical yet poorly served.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98280" y="2011680"/>
            <a:ext cx="2560320" cy="3840480"/>
          </a:xfrm>
          <a:prstGeom prst="rect">
            <a:avLst/>
          </a:prstGeom>
          <a:solidFill>
            <a:srgbClr val="243B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98280" y="22860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C9A84C"/>
                </a:solidFill>
                <a:latin typeface="Calibri"/>
              </a:defRPr>
            </a:pPr>
            <a:r>
              <a:t>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292608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Calibri"/>
              </a:defRPr>
            </a:pPr>
            <a:r>
              <a:t>Zero Tech</a:t>
            </a:r>
            <a:br/>
            <a:r>
              <a:t>Adoption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829800" y="3749040"/>
            <a:ext cx="1097280" cy="254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0" y="3931920"/>
            <a:ext cx="2103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Most local cleaners still use phone</a:t>
            </a:r>
          </a:p>
          <a:p>
            <a:pPr algn="ctr">
              <a:spcAft>
                <a:spcPts val="6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calls and paper scheduling. No online</a:t>
            </a:r>
          </a:p>
          <a:p>
            <a:pPr algn="ctr">
              <a:spcAft>
                <a:spcPts val="60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booking, no real-time updates.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6126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D4BB72"/>
                </a:solidFill>
                <a:latin typeface="Calibri"/>
              </a:defRPr>
            </a:pPr>
            <a:r>
              <a:t>"Gainesville has no premium, locally-owned cleaning option. We're changing that."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THE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828800" cy="381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4BB72"/>
                </a:solidFill>
                <a:latin typeface="Calibri"/>
              </a:defRPr>
            </a:pPr>
            <a:r>
              <a:t>InStyle Cleaning — Premium, Reliable, Tech-Enabled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3 / 8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3383280" cy="9144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21D33"/>
                </a:solidFill>
                <a:latin typeface="Calibri"/>
              </a:defRPr>
            </a:pPr>
            <a:r>
              <a:t>PREMIUM</a:t>
            </a:r>
            <a:br/>
            <a:r>
              <a:t>QUALITY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743200"/>
            <a:ext cx="3383280" cy="3474720"/>
          </a:xfrm>
          <a:prstGeom prst="rect">
            <a:avLst/>
          </a:prstGeom>
          <a:solidFill>
            <a:srgbClr val="243B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01752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✦  Vetted, trained cleaning professionals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65760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✦  Eco-friendly premium products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29768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✦  Detailed quality checklists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93776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✦  100% satisfaction guarantee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1828800"/>
            <a:ext cx="3383280" cy="9144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192024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21D33"/>
                </a:solidFill>
                <a:latin typeface="Calibri"/>
              </a:defRPr>
            </a:pPr>
            <a:r>
              <a:t>TECH-FORWARD</a:t>
            </a:r>
            <a:br/>
            <a:r>
              <a:t>OPERATIONS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0" y="2743200"/>
            <a:ext cx="3383280" cy="3474720"/>
          </a:xfrm>
          <a:prstGeom prst="rect">
            <a:avLst/>
          </a:prstGeom>
          <a:solidFill>
            <a:srgbClr val="243B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0" y="301752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✦  Online booking &amp; scheduling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365760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✦  Real-time service updates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429768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✦  Automated reminders &amp; billing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493776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✦  Customer portal &amp; feedback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20" y="1828800"/>
            <a:ext cx="3383280" cy="9144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0" y="192024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21D33"/>
                </a:solidFill>
                <a:latin typeface="Calibri"/>
              </a:defRPr>
            </a:pPr>
            <a:r>
              <a:t>COMMUNITY</a:t>
            </a:r>
            <a:br/>
            <a:r>
              <a:t>ROOTED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46720" y="2743200"/>
            <a:ext cx="3383280" cy="3474720"/>
          </a:xfrm>
          <a:prstGeom prst="rect">
            <a:avLst/>
          </a:prstGeom>
          <a:solidFill>
            <a:srgbClr val="243B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301752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✦  Black-owned, local business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365760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✦  Living wage for all staff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429768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✦  Partnerships with local PMs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493776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✦  Multi-city proven model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5760720"/>
            <a:ext cx="10698480" cy="640080"/>
          </a:xfrm>
          <a:prstGeom prst="rect">
            <a:avLst/>
          </a:prstGeom>
          <a:solidFill>
            <a:srgbClr val="121D33"/>
          </a:solidFill>
          <a:ln w="254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58064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C9A84C"/>
                </a:solidFill>
                <a:latin typeface="Calibri"/>
              </a:defRPr>
            </a:pPr>
            <a:r>
              <a:t>WE DELIVER WHAT BUDGET FRANCHISES CAN'T:  CONSISTENCY  •  QUALITY  •  TRUST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MARKET OPPORTUNITY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828800" cy="381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4BB72"/>
                </a:solidFill>
                <a:latin typeface="Calibri"/>
              </a:defRPr>
            </a:pPr>
            <a:r>
              <a:t>A massive, growing market with ideal local conditions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4 / 8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2011680" cy="1463040"/>
          </a:xfrm>
          <a:prstGeom prst="rect">
            <a:avLst/>
          </a:prstGeom>
          <a:solidFill>
            <a:srgbClr val="243B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2011680" cy="508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0312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C9A84C"/>
                </a:solidFill>
                <a:latin typeface="Calibri"/>
              </a:defRPr>
            </a:pPr>
            <a:r>
              <a:t>$46.34B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Calibri"/>
              </a:defRPr>
            </a:pPr>
            <a:r>
              <a:t>US Residential Cleaning</a:t>
            </a:r>
            <a:br/>
            <a:r>
              <a:t>Market (2024)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97480" y="1828800"/>
            <a:ext cx="2011680" cy="1463040"/>
          </a:xfrm>
          <a:prstGeom prst="rect">
            <a:avLst/>
          </a:prstGeom>
          <a:solidFill>
            <a:srgbClr val="243B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697480" y="1828800"/>
            <a:ext cx="2011680" cy="508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71800" y="210312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C9A84C"/>
                </a:solidFill>
                <a:latin typeface="Calibri"/>
              </a:defRPr>
            </a:pPr>
            <a:r>
              <a:t>6.4%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274320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Calibri"/>
              </a:defRPr>
            </a:pPr>
            <a:r>
              <a:t>Compound Annual</a:t>
            </a:r>
            <a:br/>
            <a:r>
              <a:t>Growth Rate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37760" y="1828800"/>
            <a:ext cx="2011680" cy="1463040"/>
          </a:xfrm>
          <a:prstGeom prst="rect">
            <a:avLst/>
          </a:prstGeom>
          <a:solidFill>
            <a:srgbClr val="243B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37760" y="1828800"/>
            <a:ext cx="2011680" cy="508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12080" y="210312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C9A84C"/>
                </a:solidFill>
                <a:latin typeface="Calibri"/>
              </a:defRPr>
            </a:pPr>
            <a:r>
              <a:t>$66.67B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274320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Calibri"/>
              </a:defRPr>
            </a:pPr>
            <a:r>
              <a:t>Projected Market</a:t>
            </a:r>
            <a:br/>
            <a:r>
              <a:t>Size by 2030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78040" y="1828800"/>
            <a:ext cx="2011680" cy="1463040"/>
          </a:xfrm>
          <a:prstGeom prst="rect">
            <a:avLst/>
          </a:prstGeom>
          <a:solidFill>
            <a:srgbClr val="243B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178040" y="1828800"/>
            <a:ext cx="2011680" cy="508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52360" y="210312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C9A84C"/>
                </a:solidFill>
                <a:latin typeface="Calibri"/>
              </a:defRPr>
            </a:pPr>
            <a:r>
              <a:t>145K+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52360" y="274320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Calibri"/>
              </a:defRPr>
            </a:pPr>
            <a:r>
              <a:t>Gainesville</a:t>
            </a:r>
            <a:br/>
            <a:r>
              <a:t>Population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418320" y="1828800"/>
            <a:ext cx="2011680" cy="1463040"/>
          </a:xfrm>
          <a:prstGeom prst="rect">
            <a:avLst/>
          </a:prstGeom>
          <a:solidFill>
            <a:srgbClr val="243B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418320" y="1828800"/>
            <a:ext cx="2011680" cy="508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92640" y="210312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C9A84C"/>
                </a:solidFill>
                <a:latin typeface="Calibri"/>
              </a:defRPr>
            </a:pPr>
            <a:r>
              <a:t>67%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0" y="274320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Calibri"/>
              </a:defRPr>
            </a:pPr>
            <a:r>
              <a:t>Renters in</a:t>
            </a:r>
            <a:br/>
            <a:r>
              <a:t>Gainesville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3840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9A84C"/>
                </a:solidFill>
                <a:latin typeface="Calibri"/>
              </a:defRPr>
            </a:pPr>
            <a:r>
              <a:t>WHY GAINESVILLE?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3891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▸  University of Florida — 60,000+ students &amp; faculty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73659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▸  High renter turnover = constant move-in/out demand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08406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▸  Growing young professional population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43153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▸  Property management firms need reliable partners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43891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▸  No premium local competitor exists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473659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▸  Avg household income supports premium pricing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508406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▸  Multi-city expansion corridor: → Orlando → Tampa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543153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▸  Recession-resistant essential service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BUSINESS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828800" cy="381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4BB72"/>
                </a:solidFill>
                <a:latin typeface="Calibri"/>
              </a:defRPr>
            </a:pPr>
            <a:r>
              <a:t>Recurring revenue with premium margins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5 / 8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3383280" cy="3200400"/>
          </a:xfrm>
          <a:prstGeom prst="rect">
            <a:avLst/>
          </a:prstGeom>
          <a:solidFill>
            <a:srgbClr val="243B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C9A84C"/>
                </a:solidFill>
                <a:latin typeface="Calibri"/>
              </a:defRPr>
            </a:pPr>
            <a:r>
              <a:t>65%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3464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RECURRING</a:t>
            </a:r>
            <a:br/>
            <a:r>
              <a:t>SUBSCRIPTIONS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1645920" y="3566160"/>
            <a:ext cx="1554480" cy="254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74904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5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Weekly &amp; bi-weekly cleaning</a:t>
            </a:r>
          </a:p>
          <a:p>
            <a:pPr algn="ctr">
              <a:spcAft>
                <a:spcPts val="65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plans. Predictable revenue.</a:t>
            </a:r>
          </a:p>
          <a:p>
            <a:pPr algn="ctr">
              <a:spcAft>
                <a:spcPts val="65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High retention rate.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1828800"/>
            <a:ext cx="3383280" cy="3200400"/>
          </a:xfrm>
          <a:prstGeom prst="rect">
            <a:avLst/>
          </a:prstGeom>
          <a:solidFill>
            <a:srgbClr val="243B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210312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D4BB72"/>
                </a:solidFill>
                <a:latin typeface="Calibri"/>
              </a:defRPr>
            </a:pPr>
            <a:r>
              <a:t>25%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83464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DEEP CLEANS &amp;</a:t>
            </a:r>
            <a:br/>
            <a:r>
              <a:t>MOVE-IN/OUT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03520" y="3566160"/>
            <a:ext cx="1554480" cy="25400"/>
          </a:xfrm>
          <a:prstGeom prst="rect">
            <a:avLst/>
          </a:prstGeom>
          <a:solidFill>
            <a:srgbClr val="D4B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374904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5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One-time premium services.</a:t>
            </a:r>
          </a:p>
          <a:p>
            <a:pPr algn="ctr">
              <a:spcAft>
                <a:spcPts val="65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High margin per job.</a:t>
            </a:r>
          </a:p>
          <a:p>
            <a:pPr algn="ctr">
              <a:spcAft>
                <a:spcPts val="65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PM partnership driven.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0" y="1828800"/>
            <a:ext cx="3383280" cy="3200400"/>
          </a:xfrm>
          <a:prstGeom prst="rect">
            <a:avLst/>
          </a:prstGeom>
          <a:solidFill>
            <a:srgbClr val="243B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0" y="210312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8B9DB8"/>
                </a:solidFill>
                <a:latin typeface="Calibri"/>
              </a:defRPr>
            </a:pPr>
            <a:r>
              <a:t>10%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283464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SPECIALTY</a:t>
            </a:r>
            <a:br/>
            <a:r>
              <a:t>SERVICES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61120" y="3566160"/>
            <a:ext cx="1554480" cy="25400"/>
          </a:xfrm>
          <a:prstGeom prst="rect">
            <a:avLst/>
          </a:prstGeom>
          <a:solidFill>
            <a:srgbClr val="8B9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374904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5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Post-construction, Airbnb</a:t>
            </a:r>
          </a:p>
          <a:p>
            <a:pPr algn="ctr">
              <a:spcAft>
                <a:spcPts val="65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turnover, event cleaning.</a:t>
            </a:r>
          </a:p>
          <a:p>
            <a:pPr algn="ctr">
              <a:spcAft>
                <a:spcPts val="65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Growth upside.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5394960"/>
            <a:ext cx="10698480" cy="1097280"/>
          </a:xfrm>
          <a:prstGeom prst="rect">
            <a:avLst/>
          </a:prstGeom>
          <a:solidFill>
            <a:srgbClr val="121D33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54864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C9A84C"/>
                </a:solidFill>
                <a:latin typeface="Calibri"/>
              </a:defRPr>
            </a:pPr>
            <a:r>
              <a:t>55%+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5943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Gross Margin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49040" y="54864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C9A84C"/>
                </a:solidFill>
                <a:latin typeface="Calibri"/>
              </a:defRPr>
            </a:pPr>
            <a:r>
              <a:t>$150-300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49040" y="5943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Avg Ticket Size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4864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C9A84C"/>
                </a:solidFill>
                <a:latin typeface="Calibri"/>
              </a:defRPr>
            </a:pPr>
            <a:r>
              <a:t>80%+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5943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Retention Target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0" y="54864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C9A84C"/>
                </a:solidFill>
                <a:latin typeface="Calibri"/>
              </a:defRPr>
            </a:pPr>
            <a:r>
              <a:t>2.5x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5943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LTV:CAC Ratio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TRACTION &amp; MILESTONES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828800" cy="381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4BB72"/>
                </a:solidFill>
                <a:latin typeface="Calibri"/>
              </a:defRPr>
            </a:pPr>
            <a:r>
              <a:t>Proven foundation with clear momentum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6 / 8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2011680"/>
            <a:ext cx="1828800" cy="54864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057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21D33"/>
                </a:solidFill>
                <a:latin typeface="Calibri"/>
              </a:defRPr>
            </a:pPr>
            <a:r>
              <a:t>2020</a:t>
            </a:r>
          </a:p>
        </p:txBody>
      </p:sp>
      <p:sp>
        <p:nvSpPr>
          <p:cNvPr id="8" name="Rectangle 7"/>
          <p:cNvSpPr/>
          <p:nvPr/>
        </p:nvSpPr>
        <p:spPr>
          <a:xfrm>
            <a:off x="1920240" y="2560320"/>
            <a:ext cx="38100" cy="2743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834640"/>
            <a:ext cx="2560320" cy="2743200"/>
          </a:xfrm>
          <a:prstGeom prst="rect">
            <a:avLst/>
          </a:prstGeom>
          <a:solidFill>
            <a:srgbClr val="243B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0175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C9A84C"/>
                </a:solidFill>
                <a:latin typeface="Calibri"/>
              </a:defRPr>
            </a:pPr>
            <a:r>
              <a:t>FOUNDED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566160"/>
            <a:ext cx="2011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5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Launched in Gainesville, FL.</a:t>
            </a:r>
          </a:p>
          <a:p>
            <a:pPr algn="ctr">
              <a:spcAft>
                <a:spcPts val="65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Established core service model</a:t>
            </a:r>
          </a:p>
          <a:p>
            <a:pPr algn="ctr">
              <a:spcAft>
                <a:spcPts val="65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and first customer base.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86200" y="2011680"/>
            <a:ext cx="1828800" cy="54864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86200" y="2057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21D33"/>
                </a:solidFill>
                <a:latin typeface="Calibri"/>
              </a:defRPr>
            </a:pPr>
            <a:r>
              <a:t>2021-22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09160" y="2560320"/>
            <a:ext cx="38100" cy="2743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20440" y="2834640"/>
            <a:ext cx="2560320" cy="2743200"/>
          </a:xfrm>
          <a:prstGeom prst="rect">
            <a:avLst/>
          </a:prstGeom>
          <a:solidFill>
            <a:srgbClr val="243B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0440" y="30175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C9A84C"/>
                </a:solidFill>
                <a:latin typeface="Calibri"/>
              </a:defRPr>
            </a:pPr>
            <a:r>
              <a:t>GROWTH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94760" y="3566160"/>
            <a:ext cx="2011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5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Expanded to Orlando &amp; Tampa.</a:t>
            </a:r>
          </a:p>
          <a:p>
            <a:pPr algn="ctr">
              <a:spcAft>
                <a:spcPts val="65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Built multi-city operations</a:t>
            </a:r>
          </a:p>
          <a:p>
            <a:pPr algn="ctr">
              <a:spcAft>
                <a:spcPts val="65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and supply chain.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75120" y="2011680"/>
            <a:ext cx="1828800" cy="54864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2057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21D33"/>
                </a:solidFill>
                <a:latin typeface="Calibri"/>
              </a:defRPr>
            </a:pPr>
            <a:r>
              <a:t>2023-24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98080" y="2560320"/>
            <a:ext cx="38100" cy="2743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60" y="2834640"/>
            <a:ext cx="2560320" cy="2743200"/>
          </a:xfrm>
          <a:prstGeom prst="rect">
            <a:avLst/>
          </a:prstGeom>
          <a:solidFill>
            <a:srgbClr val="243B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30175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C9A84C"/>
                </a:solidFill>
                <a:latin typeface="Calibri"/>
              </a:defRPr>
            </a:pPr>
            <a:r>
              <a:t>PARTNERSHIPS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3566160"/>
            <a:ext cx="2011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5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Property management</a:t>
            </a:r>
          </a:p>
          <a:p>
            <a:pPr algn="ctr">
              <a:spcAft>
                <a:spcPts val="65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relationships secured.</a:t>
            </a:r>
          </a:p>
          <a:p>
            <a:pPr algn="ctr">
              <a:spcAft>
                <a:spcPts val="65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Recurring revenue growing.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464040" y="2011680"/>
            <a:ext cx="1828800" cy="54864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64040" y="2057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21D33"/>
                </a:solidFill>
                <a:latin typeface="Calibri"/>
              </a:defRPr>
            </a:pPr>
            <a:r>
              <a:t>2025+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287000" y="2560320"/>
            <a:ext cx="38100" cy="2743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98280" y="2834640"/>
            <a:ext cx="2560320" cy="2743200"/>
          </a:xfrm>
          <a:prstGeom prst="rect">
            <a:avLst/>
          </a:prstGeom>
          <a:solidFill>
            <a:srgbClr val="243B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98280" y="30175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C9A84C"/>
                </a:solidFill>
                <a:latin typeface="Calibri"/>
              </a:defRPr>
            </a:pPr>
            <a:r>
              <a:t>SCALE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72600" y="3566160"/>
            <a:ext cx="2011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5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Tech platform launch.</a:t>
            </a:r>
          </a:p>
          <a:p>
            <a:pPr algn="ctr">
              <a:spcAft>
                <a:spcPts val="65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Team expansion to 10+.</a:t>
            </a:r>
          </a:p>
          <a:p>
            <a:pPr algn="ctr">
              <a:spcAft>
                <a:spcPts val="65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Regional market leader.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6692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D4BB72"/>
                </a:solidFill>
                <a:latin typeface="Calibri"/>
              </a:defRPr>
            </a:pPr>
            <a:r>
              <a:t>✦ Multi-city proven model   ✦ Property management pipeline   ✦ 100% satisfaction rate   ✦ Zero marketing — all referrals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FINANCIAL PROJECTIONS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828800" cy="381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4BB72"/>
                </a:solidFill>
                <a:latin typeface="Calibri"/>
              </a:defRPr>
            </a:pPr>
            <a:r>
              <a:t>Conservative path to profitability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7 / 8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005072"/>
            <a:ext cx="1005840" cy="1024128"/>
          </a:xfrm>
          <a:prstGeom prst="rect">
            <a:avLst/>
          </a:prstGeom>
          <a:solidFill>
            <a:srgbClr val="8B9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639312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C9A84C"/>
                </a:solidFill>
                <a:latin typeface="Calibri"/>
              </a:defRPr>
            </a:pPr>
            <a:r>
              <a:t>$312K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07492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Calibri"/>
              </a:defRPr>
            </a:pPr>
            <a:r>
              <a:t>Year 1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0" y="3236976"/>
            <a:ext cx="1005840" cy="1792224"/>
          </a:xfrm>
          <a:prstGeom prst="rect">
            <a:avLst/>
          </a:prstGeom>
          <a:solidFill>
            <a:srgbClr val="D4B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0" y="2871216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C9A84C"/>
                </a:solidFill>
                <a:latin typeface="Calibri"/>
              </a:defRPr>
            </a:pPr>
            <a:r>
              <a:t>$546K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507492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Calibri"/>
              </a:defRPr>
            </a:pPr>
            <a:r>
              <a:t>Year 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0" y="2468880"/>
            <a:ext cx="1005840" cy="25603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210312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C9A84C"/>
                </a:solidFill>
                <a:latin typeface="Calibri"/>
              </a:defRPr>
            </a:pPr>
            <a:r>
              <a:t>$780K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507492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Calibri"/>
              </a:defRPr>
            </a:pPr>
            <a:r>
              <a:t>Year 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5029200"/>
            <a:ext cx="4572000" cy="254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0" y="21031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9A84C"/>
                </a:solidFill>
                <a:latin typeface="Calibri"/>
              </a:defRPr>
            </a:pPr>
            <a:r>
              <a:t>Revenue Growth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230428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Year 1: $312K → Year 3: $780K (150% growth)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265176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9A84C"/>
                </a:solidFill>
                <a:latin typeface="Calibri"/>
              </a:defRPr>
            </a:pPr>
            <a:r>
              <a:t>Gross Margin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28529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55%+ from Year 1, improving to 60%+ at scale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32004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9A84C"/>
                </a:solidFill>
                <a:latin typeface="Calibri"/>
              </a:defRPr>
            </a:pPr>
            <a:r>
              <a:t>Break-Even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34015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Month 8-10 with current cost structure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374904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9A84C"/>
                </a:solidFill>
                <a:latin typeface="Calibri"/>
              </a:defRPr>
            </a:pPr>
            <a:r>
              <a:t>Customer Growth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395020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50 recurring → 200+ recurring accounts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429768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9A84C"/>
                </a:solidFill>
                <a:latin typeface="Calibri"/>
              </a:defRPr>
            </a:pPr>
            <a:r>
              <a:t>Average Revenue/Customer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449884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$520/month on bi-weekly plan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48463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9A84C"/>
                </a:solidFill>
                <a:latin typeface="Calibri"/>
              </a:defRPr>
            </a:pPr>
            <a:r>
              <a:t>Payback Period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0" y="504748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&lt; 3 months on customer acquisition cost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5486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THE ASK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1234440"/>
            <a:ext cx="2103120" cy="381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20095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8 / 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544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C9A84C"/>
                </a:solidFill>
                <a:latin typeface="Calibri"/>
              </a:defRPr>
            </a:pPr>
            <a:r>
              <a:t>$150,000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286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CCCC"/>
                </a:solidFill>
                <a:latin typeface="Calibri"/>
              </a:defRPr>
            </a:pPr>
            <a:r>
              <a:t>Seed Investment to Capture the Gainesville Premium Cleaning Market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017520"/>
            <a:ext cx="2560320" cy="2377440"/>
          </a:xfrm>
          <a:prstGeom prst="rect">
            <a:avLst/>
          </a:prstGeom>
          <a:solidFill>
            <a:srgbClr val="243B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2004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C9A84C"/>
                </a:solidFill>
                <a:latin typeface="Calibri"/>
              </a:defRPr>
            </a:pPr>
            <a:r>
              <a:t>40%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6576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D4BB72"/>
                </a:solidFill>
                <a:latin typeface="Calibri"/>
              </a:defRPr>
            </a:pPr>
            <a:r>
              <a:t>$60K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80160" y="4023360"/>
            <a:ext cx="1463040" cy="254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1605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OPERATIONS &amp; EQUIPMENT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52628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5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Vehicles, supplies, insurance,</a:t>
            </a:r>
          </a:p>
          <a:p>
            <a:pPr algn="ctr">
              <a:spcAft>
                <a:spcPts val="55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and operational setup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20440" y="3017520"/>
            <a:ext cx="2560320" cy="2377440"/>
          </a:xfrm>
          <a:prstGeom prst="rect">
            <a:avLst/>
          </a:prstGeom>
          <a:solidFill>
            <a:srgbClr val="243B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32004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C9A84C"/>
                </a:solidFill>
                <a:latin typeface="Calibri"/>
              </a:defRPr>
            </a:pPr>
            <a:r>
              <a:t>25%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36576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D4BB72"/>
                </a:solidFill>
                <a:latin typeface="Calibri"/>
              </a:defRPr>
            </a:pPr>
            <a:r>
              <a:t>$37.5K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69080" y="4023360"/>
            <a:ext cx="1463040" cy="254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0" y="41605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TECHNOLOGY PLATFORM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03320" y="452628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5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Booking system, CRM, customer</a:t>
            </a:r>
          </a:p>
          <a:p>
            <a:pPr algn="ctr">
              <a:spcAft>
                <a:spcPts val="55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portal, and automation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3017520"/>
            <a:ext cx="2560320" cy="2377440"/>
          </a:xfrm>
          <a:prstGeom prst="rect">
            <a:avLst/>
          </a:prstGeom>
          <a:solidFill>
            <a:srgbClr val="243B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32004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C9A84C"/>
                </a:solidFill>
                <a:latin typeface="Calibri"/>
              </a:defRPr>
            </a:pPr>
            <a:r>
              <a:t>20%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36576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D4BB72"/>
                </a:solidFill>
                <a:latin typeface="Calibri"/>
              </a:defRPr>
            </a:pPr>
            <a:r>
              <a:t>$30K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0" y="4023360"/>
            <a:ext cx="1463040" cy="254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41605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MARKETING &amp; GROWTH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452628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5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Digital marketing, local partnerships,</a:t>
            </a:r>
          </a:p>
          <a:p>
            <a:pPr algn="ctr">
              <a:spcAft>
                <a:spcPts val="55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and brand building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98280" y="3017520"/>
            <a:ext cx="2560320" cy="2377440"/>
          </a:xfrm>
          <a:prstGeom prst="rect">
            <a:avLst/>
          </a:prstGeom>
          <a:solidFill>
            <a:srgbClr val="243B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98280" y="32004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C9A84C"/>
                </a:solidFill>
                <a:latin typeface="Calibri"/>
              </a:defRPr>
            </a:pPr>
            <a:r>
              <a:t>15%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98280" y="36576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D4BB72"/>
                </a:solidFill>
                <a:latin typeface="Calibri"/>
              </a:defRPr>
            </a:pPr>
            <a:r>
              <a:t>$22.5K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46920" y="4023360"/>
            <a:ext cx="1463040" cy="254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35440" y="41605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WORKING CAPITAL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81160" y="452628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5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Cash reserves for first 6 months</a:t>
            </a:r>
          </a:p>
          <a:p>
            <a:pPr algn="ctr">
              <a:spcAft>
                <a:spcPts val="55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of growth runway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71600" y="5760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D4BB72"/>
                </a:solidFill>
                <a:latin typeface="Calibri"/>
              </a:defRPr>
            </a:pPr>
            <a:r>
              <a:t>I'stim  •  Founder &amp; CEO  •  instylecleaning.com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0" y="6126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Calibri"/>
              </a:defRPr>
            </a:pPr>
            <a:r>
              <a:t>Let's build Gainesville's premier cleaning brand together.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